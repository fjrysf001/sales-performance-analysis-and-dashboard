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Commissioner" panose="020B0604020202020204" charset="0"/>
      <p:regular r:id="rId16"/>
      <p:bold r:id="rId17"/>
    </p:embeddedFont>
    <p:embeddedFont>
      <p:font typeface="Fjalla One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A41"/>
    <a:srgbClr val="ED6B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B3B368-3046-4AFC-B9A9-A469C13A9FE7}">
  <a:tblStyle styleId="{44B3B368-3046-4AFC-B9A9-A469C13A9F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CED970A-5C31-405A-A54D-EFA1FDABA29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5" autoAdjust="0"/>
    <p:restoredTop sz="94660"/>
  </p:normalViewPr>
  <p:slideViewPr>
    <p:cSldViewPr snapToGrid="0">
      <p:cViewPr>
        <p:scale>
          <a:sx n="75" d="100"/>
          <a:sy n="75" d="100"/>
        </p:scale>
        <p:origin x="18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93b224753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93b224753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8048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250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135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1895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933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118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366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907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875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93b224753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93b224753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97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3300000" cy="25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075"/>
            <a:ext cx="33000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1" name="Google Shape;41;p8"/>
          <p:cNvGrpSpPr/>
          <p:nvPr/>
        </p:nvGrpSpPr>
        <p:grpSpPr>
          <a:xfrm flipH="1">
            <a:off x="-190375" y="-384625"/>
            <a:ext cx="12318900" cy="6976200"/>
            <a:chOff x="6025" y="-1737650"/>
            <a:chExt cx="12318900" cy="6976200"/>
          </a:xfrm>
        </p:grpSpPr>
        <p:cxnSp>
          <p:nvCxnSpPr>
            <p:cNvPr id="42" name="Google Shape;42;p8"/>
            <p:cNvCxnSpPr/>
            <p:nvPr/>
          </p:nvCxnSpPr>
          <p:spPr>
            <a:xfrm>
              <a:off x="3670650" y="-1737650"/>
              <a:ext cx="0" cy="6976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" name="Google Shape;43;p8"/>
            <p:cNvSpPr/>
            <p:nvPr/>
          </p:nvSpPr>
          <p:spPr>
            <a:xfrm flipH="1">
              <a:off x="6025" y="1464650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44" name="Google Shape;44;p8"/>
            <p:cNvCxnSpPr>
              <a:stCxn id="43" idx="6"/>
            </p:cNvCxnSpPr>
            <p:nvPr/>
          </p:nvCxnSpPr>
          <p:spPr>
            <a:xfrm>
              <a:off x="6025" y="3300800"/>
              <a:ext cx="12318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9"/>
          <p:cNvGrpSpPr/>
          <p:nvPr/>
        </p:nvGrpSpPr>
        <p:grpSpPr>
          <a:xfrm flipH="1">
            <a:off x="-3047858" y="-28500"/>
            <a:ext cx="12265500" cy="5200500"/>
            <a:chOff x="-169200" y="-38100"/>
            <a:chExt cx="12265500" cy="5200500"/>
          </a:xfrm>
        </p:grpSpPr>
        <p:cxnSp>
          <p:nvCxnSpPr>
            <p:cNvPr id="47" name="Google Shape;47;p9"/>
            <p:cNvCxnSpPr/>
            <p:nvPr/>
          </p:nvCxnSpPr>
          <p:spPr>
            <a:xfrm rot="10800000">
              <a:off x="-169200" y="308725"/>
              <a:ext cx="9290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9"/>
            <p:cNvCxnSpPr/>
            <p:nvPr/>
          </p:nvCxnSpPr>
          <p:spPr>
            <a:xfrm>
              <a:off x="8424000" y="-38100"/>
              <a:ext cx="0" cy="520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Google Shape;49;p9"/>
            <p:cNvSpPr/>
            <p:nvPr/>
          </p:nvSpPr>
          <p:spPr>
            <a:xfrm>
              <a:off x="8424000" y="1464650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3"/>
          <p:cNvGrpSpPr/>
          <p:nvPr/>
        </p:nvGrpSpPr>
        <p:grpSpPr>
          <a:xfrm rot="10800000" flipH="1">
            <a:off x="-2942050" y="-1028100"/>
            <a:ext cx="12318900" cy="7408000"/>
            <a:chOff x="6025" y="-1737650"/>
            <a:chExt cx="12318900" cy="7408000"/>
          </a:xfrm>
        </p:grpSpPr>
        <p:cxnSp>
          <p:nvCxnSpPr>
            <p:cNvPr id="164" name="Google Shape;164;p23"/>
            <p:cNvCxnSpPr/>
            <p:nvPr/>
          </p:nvCxnSpPr>
          <p:spPr>
            <a:xfrm>
              <a:off x="3670650" y="-1737650"/>
              <a:ext cx="0" cy="6976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" name="Google Shape;165;p23"/>
            <p:cNvSpPr/>
            <p:nvPr/>
          </p:nvSpPr>
          <p:spPr>
            <a:xfrm flipH="1">
              <a:off x="6025" y="1998050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6" name="Google Shape;166;p23"/>
            <p:cNvCxnSpPr>
              <a:stCxn id="165" idx="6"/>
            </p:cNvCxnSpPr>
            <p:nvPr/>
          </p:nvCxnSpPr>
          <p:spPr>
            <a:xfrm>
              <a:off x="6025" y="3834200"/>
              <a:ext cx="12318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4"/>
          <p:cNvGrpSpPr/>
          <p:nvPr/>
        </p:nvGrpSpPr>
        <p:grpSpPr>
          <a:xfrm>
            <a:off x="8430775" y="-241675"/>
            <a:ext cx="3672300" cy="5379600"/>
            <a:chOff x="8430775" y="-241675"/>
            <a:chExt cx="3672300" cy="5379600"/>
          </a:xfrm>
        </p:grpSpPr>
        <p:cxnSp>
          <p:nvCxnSpPr>
            <p:cNvPr id="169" name="Google Shape;169;p24"/>
            <p:cNvCxnSpPr/>
            <p:nvPr/>
          </p:nvCxnSpPr>
          <p:spPr>
            <a:xfrm>
              <a:off x="8430775" y="-241675"/>
              <a:ext cx="0" cy="5379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24"/>
            <p:cNvSpPr/>
            <p:nvPr/>
          </p:nvSpPr>
          <p:spPr>
            <a:xfrm flipH="1">
              <a:off x="8430775" y="29725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345075" y="-104200"/>
            <a:ext cx="0" cy="537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34;p6"/>
          <p:cNvCxnSpPr/>
          <p:nvPr/>
        </p:nvCxnSpPr>
        <p:spPr>
          <a:xfrm>
            <a:off x="-222100" y="4790025"/>
            <a:ext cx="9599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0123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1482775" y="2032625"/>
            <a:ext cx="5642400" cy="12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000">
                <a:solidFill>
                  <a:schemeClr val="dk2"/>
                </a:solidFill>
                <a:highlight>
                  <a:schemeClr val="accent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1482775" y="3259075"/>
            <a:ext cx="5642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7" name="Google Shape;57;p11"/>
          <p:cNvGrpSpPr/>
          <p:nvPr/>
        </p:nvGrpSpPr>
        <p:grpSpPr>
          <a:xfrm>
            <a:off x="-105700" y="-38100"/>
            <a:ext cx="12265500" cy="5200500"/>
            <a:chOff x="-169200" y="-38100"/>
            <a:chExt cx="12265500" cy="5200500"/>
          </a:xfrm>
        </p:grpSpPr>
        <p:cxnSp>
          <p:nvCxnSpPr>
            <p:cNvPr id="58" name="Google Shape;58;p11"/>
            <p:cNvCxnSpPr/>
            <p:nvPr/>
          </p:nvCxnSpPr>
          <p:spPr>
            <a:xfrm rot="10800000">
              <a:off x="-169200" y="308725"/>
              <a:ext cx="9290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11"/>
            <p:cNvCxnSpPr/>
            <p:nvPr/>
          </p:nvCxnSpPr>
          <p:spPr>
            <a:xfrm>
              <a:off x="8424000" y="-38100"/>
              <a:ext cx="0" cy="5200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11"/>
            <p:cNvSpPr/>
            <p:nvPr/>
          </p:nvSpPr>
          <p:spPr>
            <a:xfrm>
              <a:off x="8424000" y="1464650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66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●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Char char="○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ommissioner"/>
              <a:buChar char="■"/>
              <a:defRPr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69" r:id="rId6"/>
    <p:sldLayoutId id="2147483670" r:id="rId7"/>
    <p:sldLayoutId id="2147483674" r:id="rId8"/>
    <p:sldLayoutId id="214748367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7" Type="http://schemas.openxmlformats.org/officeDocument/2006/relationships/hyperlink" Target="https://www.kaggle.com/datasets/kyanyoga/sample-sales-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jri291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ctrTitle"/>
          </p:nvPr>
        </p:nvSpPr>
        <p:spPr>
          <a:xfrm>
            <a:off x="1359515" y="552226"/>
            <a:ext cx="3858771" cy="252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Sales Performance Dashboard </a:t>
            </a:r>
            <a:endParaRPr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grpSp>
        <p:nvGrpSpPr>
          <p:cNvPr id="183" name="Google Shape;183;p28"/>
          <p:cNvGrpSpPr/>
          <p:nvPr/>
        </p:nvGrpSpPr>
        <p:grpSpPr>
          <a:xfrm>
            <a:off x="-169200" y="-16725"/>
            <a:ext cx="9290400" cy="5255400"/>
            <a:chOff x="-169200" y="-16725"/>
            <a:chExt cx="9290400" cy="5255400"/>
          </a:xfrm>
        </p:grpSpPr>
        <p:cxnSp>
          <p:nvCxnSpPr>
            <p:cNvPr id="184" name="Google Shape;184;p28"/>
            <p:cNvCxnSpPr/>
            <p:nvPr/>
          </p:nvCxnSpPr>
          <p:spPr>
            <a:xfrm>
              <a:off x="5448900" y="-16725"/>
              <a:ext cx="0" cy="5255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5" name="Google Shape;185;p28"/>
            <p:cNvSpPr/>
            <p:nvPr/>
          </p:nvSpPr>
          <p:spPr>
            <a:xfrm>
              <a:off x="5448900" y="1464650"/>
              <a:ext cx="3672300" cy="3672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86" name="Google Shape;186;p28"/>
            <p:cNvCxnSpPr>
              <a:stCxn id="185" idx="6"/>
            </p:cNvCxnSpPr>
            <p:nvPr/>
          </p:nvCxnSpPr>
          <p:spPr>
            <a:xfrm rot="10800000">
              <a:off x="-169200" y="3300800"/>
              <a:ext cx="9290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Google Shape;181;p28">
            <a:extLst>
              <a:ext uri="{FF2B5EF4-FFF2-40B4-BE49-F238E27FC236}">
                <a16:creationId xmlns:a16="http://schemas.microsoft.com/office/drawing/2014/main" id="{1C3A0B74-96B1-4ADD-8E46-054B1D4B4419}"/>
              </a:ext>
            </a:extLst>
          </p:cNvPr>
          <p:cNvSpPr txBox="1">
            <a:spLocks/>
          </p:cNvSpPr>
          <p:nvPr/>
        </p:nvSpPr>
        <p:spPr>
          <a:xfrm>
            <a:off x="853348" y="284297"/>
            <a:ext cx="2585143" cy="93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42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dk2"/>
                </a:solidFill>
                <a:highlight>
                  <a:schemeClr val="accent2"/>
                </a:highlight>
              </a:rPr>
              <a:t>2003-2005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5431BF-7E57-4106-BE00-A0BE754F0353}"/>
              </a:ext>
            </a:extLst>
          </p:cNvPr>
          <p:cNvGrpSpPr/>
          <p:nvPr/>
        </p:nvGrpSpPr>
        <p:grpSpPr>
          <a:xfrm>
            <a:off x="3753118" y="3931633"/>
            <a:ext cx="1695781" cy="526264"/>
            <a:chOff x="7360810" y="25962"/>
            <a:chExt cx="1695781" cy="526264"/>
          </a:xfrm>
        </p:grpSpPr>
        <p:pic>
          <p:nvPicPr>
            <p:cNvPr id="3" name="Picture 2">
              <a:hlinkClick r:id="rId3"/>
              <a:extLst>
                <a:ext uri="{FF2B5EF4-FFF2-40B4-BE49-F238E27FC236}">
                  <a16:creationId xmlns:a16="http://schemas.microsoft.com/office/drawing/2014/main" id="{582B53D7-E885-4975-BE16-3CA257FDE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1" name="Google Shape;193;p29">
              <a:extLst>
                <a:ext uri="{FF2B5EF4-FFF2-40B4-BE49-F238E27FC236}">
                  <a16:creationId xmlns:a16="http://schemas.microsoft.com/office/drawing/2014/main" id="{E28A7396-D0C8-4D77-B292-9D676DB6E603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Subtitle 4">
            <a:extLst>
              <a:ext uri="{FF2B5EF4-FFF2-40B4-BE49-F238E27FC236}">
                <a16:creationId xmlns:a16="http://schemas.microsoft.com/office/drawing/2014/main" id="{FAD44C3D-D23E-4821-935A-B6A1BC9D39A3}"/>
              </a:ext>
            </a:extLst>
          </p:cNvPr>
          <p:cNvSpPr txBox="1">
            <a:spLocks/>
          </p:cNvSpPr>
          <p:nvPr/>
        </p:nvSpPr>
        <p:spPr>
          <a:xfrm>
            <a:off x="488427" y="3743140"/>
            <a:ext cx="4058795" cy="83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400" dirty="0"/>
              <a:t>Created by : Muhammad Fajri Yusuf</a:t>
            </a:r>
          </a:p>
          <a:p>
            <a:endParaRPr lang="en-US" sz="1400" dirty="0"/>
          </a:p>
          <a:p>
            <a:r>
              <a:rPr lang="en-US" sz="1400" dirty="0"/>
              <a:t>Source : Kaggle Dataset</a:t>
            </a:r>
          </a:p>
        </p:txBody>
      </p:sp>
      <p:sp>
        <p:nvSpPr>
          <p:cNvPr id="18" name="Google Shape;191;p29">
            <a:extLst>
              <a:ext uri="{FF2B5EF4-FFF2-40B4-BE49-F238E27FC236}">
                <a16:creationId xmlns:a16="http://schemas.microsoft.com/office/drawing/2014/main" id="{F225F2C4-2E28-4807-8CF3-90FF38FD2165}"/>
              </a:ext>
            </a:extLst>
          </p:cNvPr>
          <p:cNvSpPr txBox="1">
            <a:spLocks/>
          </p:cNvSpPr>
          <p:nvPr/>
        </p:nvSpPr>
        <p:spPr>
          <a:xfrm>
            <a:off x="-5362127" y="2298311"/>
            <a:ext cx="5192927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42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ID"/>
              <a:t>Objective of </a:t>
            </a:r>
            <a:r>
              <a:rPr lang="en-ID" sz="3600"/>
              <a:t>the</a:t>
            </a:r>
            <a:r>
              <a:rPr lang="en-ID"/>
              <a:t> Analysis</a:t>
            </a:r>
            <a:endParaRPr lang="en-ID" dirty="0"/>
          </a:p>
        </p:txBody>
      </p:sp>
      <p:sp>
        <p:nvSpPr>
          <p:cNvPr id="21" name="Subtitle 4">
            <a:extLst>
              <a:ext uri="{FF2B5EF4-FFF2-40B4-BE49-F238E27FC236}">
                <a16:creationId xmlns:a16="http://schemas.microsoft.com/office/drawing/2014/main" id="{9D51D228-B80F-4A70-ACD9-685CC7160E8D}"/>
              </a:ext>
            </a:extLst>
          </p:cNvPr>
          <p:cNvSpPr txBox="1">
            <a:spLocks/>
          </p:cNvSpPr>
          <p:nvPr/>
        </p:nvSpPr>
        <p:spPr>
          <a:xfrm>
            <a:off x="9022938" y="284297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474478" y="998700"/>
            <a:ext cx="4440422" cy="625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 of </a:t>
            </a:r>
            <a:r>
              <a:rPr lang="en" sz="3600" dirty="0"/>
              <a:t>the</a:t>
            </a:r>
            <a:r>
              <a:rPr lang="en" dirty="0"/>
              <a:t> Analysis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6" name="Google Shape;181;p28">
            <a:extLst>
              <a:ext uri="{FF2B5EF4-FFF2-40B4-BE49-F238E27FC236}">
                <a16:creationId xmlns:a16="http://schemas.microsoft.com/office/drawing/2014/main" id="{6B6C1B20-B3E9-4E08-9E8F-B490A2FD6EA2}"/>
              </a:ext>
            </a:extLst>
          </p:cNvPr>
          <p:cNvSpPr txBox="1">
            <a:spLocks/>
          </p:cNvSpPr>
          <p:nvPr/>
        </p:nvSpPr>
        <p:spPr>
          <a:xfrm>
            <a:off x="-3011080" y="12347"/>
            <a:ext cx="2585143" cy="930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42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jalla One"/>
              <a:buNone/>
              <a:defRPr sz="5200" b="0" i="0" u="none" strike="noStrike" cap="none">
                <a:solidFill>
                  <a:srgbClr val="191919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dk2"/>
                </a:solidFill>
                <a:highlight>
                  <a:schemeClr val="accent2"/>
                </a:highlight>
              </a:rPr>
              <a:t>2003-2005</a:t>
            </a:r>
          </a:p>
        </p:txBody>
      </p: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F6AA4E-333D-43AB-A31B-A0000D3187DF}"/>
              </a:ext>
            </a:extLst>
          </p:cNvPr>
          <p:cNvGrpSpPr/>
          <p:nvPr/>
        </p:nvGrpSpPr>
        <p:grpSpPr>
          <a:xfrm>
            <a:off x="474478" y="1865900"/>
            <a:ext cx="4097522" cy="382000"/>
            <a:chOff x="474478" y="1456325"/>
            <a:chExt cx="4097522" cy="382000"/>
          </a:xfrm>
        </p:grpSpPr>
        <p:sp>
          <p:nvSpPr>
            <p:cNvPr id="30" name="Google Shape;328;p40">
              <a:extLst>
                <a:ext uri="{FF2B5EF4-FFF2-40B4-BE49-F238E27FC236}">
                  <a16:creationId xmlns:a16="http://schemas.microsoft.com/office/drawing/2014/main" id="{F1396EEB-44FC-44C6-9D43-C313FA91AE1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2" name="Google Shape;264;p35">
              <a:extLst>
                <a:ext uri="{FF2B5EF4-FFF2-40B4-BE49-F238E27FC236}">
                  <a16:creationId xmlns:a16="http://schemas.microsoft.com/office/drawing/2014/main" id="{1546D4E7-2E88-4339-9778-2086A5D7B250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3889246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Understand sales trends over time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61BB42-819A-49E3-B742-A4455B7AC3FB}"/>
              </a:ext>
            </a:extLst>
          </p:cNvPr>
          <p:cNvGrpSpPr/>
          <p:nvPr/>
        </p:nvGrpSpPr>
        <p:grpSpPr>
          <a:xfrm>
            <a:off x="474478" y="2399712"/>
            <a:ext cx="6621646" cy="382000"/>
            <a:chOff x="474478" y="1456325"/>
            <a:chExt cx="6621646" cy="382000"/>
          </a:xfrm>
        </p:grpSpPr>
        <p:sp>
          <p:nvSpPr>
            <p:cNvPr id="36" name="Google Shape;328;p40">
              <a:extLst>
                <a:ext uri="{FF2B5EF4-FFF2-40B4-BE49-F238E27FC236}">
                  <a16:creationId xmlns:a16="http://schemas.microsoft.com/office/drawing/2014/main" id="{6858859C-F4B1-4F6F-8E3A-F0ABE54C52C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7" name="Google Shape;264;p35">
              <a:extLst>
                <a:ext uri="{FF2B5EF4-FFF2-40B4-BE49-F238E27FC236}">
                  <a16:creationId xmlns:a16="http://schemas.microsoft.com/office/drawing/2014/main" id="{F7282EA1-CB2F-4A72-8743-4AC1CB6E0951}"/>
                </a:ext>
              </a:extLst>
            </p:cNvPr>
            <p:cNvSpPr txBox="1">
              <a:spLocks/>
            </p:cNvSpPr>
            <p:nvPr/>
          </p:nvSpPr>
          <p:spPr>
            <a:xfrm>
              <a:off x="682753" y="1456325"/>
              <a:ext cx="6413371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Identify top performing countries, products, and customers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9E653C-98DB-4D20-A4C5-BFC66CA73E1B}"/>
              </a:ext>
            </a:extLst>
          </p:cNvPr>
          <p:cNvGrpSpPr/>
          <p:nvPr/>
        </p:nvGrpSpPr>
        <p:grpSpPr>
          <a:xfrm>
            <a:off x="474478" y="2932700"/>
            <a:ext cx="5977122" cy="382000"/>
            <a:chOff x="474478" y="1456325"/>
            <a:chExt cx="5977122" cy="382000"/>
          </a:xfrm>
        </p:grpSpPr>
        <p:sp>
          <p:nvSpPr>
            <p:cNvPr id="39" name="Google Shape;328;p40">
              <a:extLst>
                <a:ext uri="{FF2B5EF4-FFF2-40B4-BE49-F238E27FC236}">
                  <a16:creationId xmlns:a16="http://schemas.microsoft.com/office/drawing/2014/main" id="{A40950EC-3F06-4F6A-B33C-A45E0C6D93FB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40" name="Google Shape;264;p35">
              <a:extLst>
                <a:ext uri="{FF2B5EF4-FFF2-40B4-BE49-F238E27FC236}">
                  <a16:creationId xmlns:a16="http://schemas.microsoft.com/office/drawing/2014/main" id="{CED82E66-5D46-4E70-9B91-856E3B09CD91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5768846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Provide insights for potential strategic improvements.</a:t>
              </a:r>
            </a:p>
          </p:txBody>
        </p:sp>
      </p:grp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-4628467" y="998700"/>
            <a:ext cx="4440422" cy="625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 of </a:t>
            </a:r>
            <a:r>
              <a:rPr lang="en" sz="3600" dirty="0"/>
              <a:t>the</a:t>
            </a:r>
            <a:r>
              <a:rPr lang="en" dirty="0"/>
              <a:t> Analysis</a:t>
            </a:r>
            <a:endParaRPr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F6AA4E-333D-43AB-A31B-A0000D3187DF}"/>
              </a:ext>
            </a:extLst>
          </p:cNvPr>
          <p:cNvGrpSpPr/>
          <p:nvPr/>
        </p:nvGrpSpPr>
        <p:grpSpPr>
          <a:xfrm>
            <a:off x="-6840730" y="1865900"/>
            <a:ext cx="4097522" cy="382000"/>
            <a:chOff x="474478" y="1456325"/>
            <a:chExt cx="4097522" cy="382000"/>
          </a:xfrm>
        </p:grpSpPr>
        <p:sp>
          <p:nvSpPr>
            <p:cNvPr id="30" name="Google Shape;328;p40">
              <a:extLst>
                <a:ext uri="{FF2B5EF4-FFF2-40B4-BE49-F238E27FC236}">
                  <a16:creationId xmlns:a16="http://schemas.microsoft.com/office/drawing/2014/main" id="{F1396EEB-44FC-44C6-9D43-C313FA91AE1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2" name="Google Shape;264;p35">
              <a:extLst>
                <a:ext uri="{FF2B5EF4-FFF2-40B4-BE49-F238E27FC236}">
                  <a16:creationId xmlns:a16="http://schemas.microsoft.com/office/drawing/2014/main" id="{1546D4E7-2E88-4339-9778-2086A5D7B250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3889246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Understand sales trends over time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61BB42-819A-49E3-B742-A4455B7AC3FB}"/>
              </a:ext>
            </a:extLst>
          </p:cNvPr>
          <p:cNvGrpSpPr/>
          <p:nvPr/>
        </p:nvGrpSpPr>
        <p:grpSpPr>
          <a:xfrm>
            <a:off x="-6840730" y="2399712"/>
            <a:ext cx="6621646" cy="382000"/>
            <a:chOff x="474478" y="1456325"/>
            <a:chExt cx="6621646" cy="382000"/>
          </a:xfrm>
        </p:grpSpPr>
        <p:sp>
          <p:nvSpPr>
            <p:cNvPr id="36" name="Google Shape;328;p40">
              <a:extLst>
                <a:ext uri="{FF2B5EF4-FFF2-40B4-BE49-F238E27FC236}">
                  <a16:creationId xmlns:a16="http://schemas.microsoft.com/office/drawing/2014/main" id="{6858859C-F4B1-4F6F-8E3A-F0ABE54C52C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7" name="Google Shape;264;p35">
              <a:extLst>
                <a:ext uri="{FF2B5EF4-FFF2-40B4-BE49-F238E27FC236}">
                  <a16:creationId xmlns:a16="http://schemas.microsoft.com/office/drawing/2014/main" id="{F7282EA1-CB2F-4A72-8743-4AC1CB6E0951}"/>
                </a:ext>
              </a:extLst>
            </p:cNvPr>
            <p:cNvSpPr txBox="1">
              <a:spLocks/>
            </p:cNvSpPr>
            <p:nvPr/>
          </p:nvSpPr>
          <p:spPr>
            <a:xfrm>
              <a:off x="682753" y="1456325"/>
              <a:ext cx="6413371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Identify top performing countries, products, and customers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69E653C-98DB-4D20-A4C5-BFC66CA73E1B}"/>
              </a:ext>
            </a:extLst>
          </p:cNvPr>
          <p:cNvGrpSpPr/>
          <p:nvPr/>
        </p:nvGrpSpPr>
        <p:grpSpPr>
          <a:xfrm>
            <a:off x="-6840730" y="2932700"/>
            <a:ext cx="4097522" cy="382000"/>
            <a:chOff x="474478" y="1456325"/>
            <a:chExt cx="4097522" cy="382000"/>
          </a:xfrm>
        </p:grpSpPr>
        <p:sp>
          <p:nvSpPr>
            <p:cNvPr id="39" name="Google Shape;328;p40">
              <a:extLst>
                <a:ext uri="{FF2B5EF4-FFF2-40B4-BE49-F238E27FC236}">
                  <a16:creationId xmlns:a16="http://schemas.microsoft.com/office/drawing/2014/main" id="{A40950EC-3F06-4F6A-B33C-A45E0C6D93FB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40" name="Google Shape;264;p35">
              <a:extLst>
                <a:ext uri="{FF2B5EF4-FFF2-40B4-BE49-F238E27FC236}">
                  <a16:creationId xmlns:a16="http://schemas.microsoft.com/office/drawing/2014/main" id="{CED82E66-5D46-4E70-9B91-856E3B09CD91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3889246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Understand sales trends over time</a:t>
              </a:r>
            </a:p>
          </p:txBody>
        </p:sp>
      </p:grp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191;p29">
            <a:extLst>
              <a:ext uri="{FF2B5EF4-FFF2-40B4-BE49-F238E27FC236}">
                <a16:creationId xmlns:a16="http://schemas.microsoft.com/office/drawing/2014/main" id="{44984711-C979-4335-BBCF-8F54F2BF11AA}"/>
              </a:ext>
            </a:extLst>
          </p:cNvPr>
          <p:cNvSpPr txBox="1">
            <a:spLocks/>
          </p:cNvSpPr>
          <p:nvPr/>
        </p:nvSpPr>
        <p:spPr>
          <a:xfrm>
            <a:off x="479416" y="988207"/>
            <a:ext cx="4440422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ID" dirty="0">
                <a:solidFill>
                  <a:schemeClr val="tx1"/>
                </a:solidFill>
              </a:rPr>
              <a:t>Dataset Overview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74478" y="1865900"/>
            <a:ext cx="4445360" cy="382000"/>
            <a:chOff x="474478" y="1456325"/>
            <a:chExt cx="4445360" cy="382000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Total Records : 2823 Records (rows)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B2C9A4-7DEF-4836-AF1B-0DCA55EF3087}"/>
              </a:ext>
            </a:extLst>
          </p:cNvPr>
          <p:cNvGrpSpPr/>
          <p:nvPr/>
        </p:nvGrpSpPr>
        <p:grpSpPr>
          <a:xfrm>
            <a:off x="474478" y="2399712"/>
            <a:ext cx="6621646" cy="382000"/>
            <a:chOff x="474478" y="1456325"/>
            <a:chExt cx="6621646" cy="382000"/>
          </a:xfrm>
        </p:grpSpPr>
        <p:sp>
          <p:nvSpPr>
            <p:cNvPr id="25" name="Google Shape;328;p40">
              <a:extLst>
                <a:ext uri="{FF2B5EF4-FFF2-40B4-BE49-F238E27FC236}">
                  <a16:creationId xmlns:a16="http://schemas.microsoft.com/office/drawing/2014/main" id="{E25DC4A1-DCFB-494D-8E3E-6EB19FF4BB6B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6" name="Google Shape;264;p35">
              <a:extLst>
                <a:ext uri="{FF2B5EF4-FFF2-40B4-BE49-F238E27FC236}">
                  <a16:creationId xmlns:a16="http://schemas.microsoft.com/office/drawing/2014/main" id="{6CC09D6B-19BA-4D0B-AFA7-B36063297FCB}"/>
                </a:ext>
              </a:extLst>
            </p:cNvPr>
            <p:cNvSpPr txBox="1">
              <a:spLocks/>
            </p:cNvSpPr>
            <p:nvPr/>
          </p:nvSpPr>
          <p:spPr>
            <a:xfrm>
              <a:off x="682753" y="1456325"/>
              <a:ext cx="6413371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Period : 2003-2005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14C2FB-8325-4FD6-B686-376C3C57A6DE}"/>
              </a:ext>
            </a:extLst>
          </p:cNvPr>
          <p:cNvGrpSpPr/>
          <p:nvPr/>
        </p:nvGrpSpPr>
        <p:grpSpPr>
          <a:xfrm>
            <a:off x="474478" y="2932700"/>
            <a:ext cx="7885751" cy="382000"/>
            <a:chOff x="474478" y="1456325"/>
            <a:chExt cx="7885751" cy="382000"/>
          </a:xfrm>
        </p:grpSpPr>
        <p:sp>
          <p:nvSpPr>
            <p:cNvPr id="29" name="Google Shape;328;p40">
              <a:extLst>
                <a:ext uri="{FF2B5EF4-FFF2-40B4-BE49-F238E27FC236}">
                  <a16:creationId xmlns:a16="http://schemas.microsoft.com/office/drawing/2014/main" id="{6260EE60-9CA4-4862-869B-17B06644614C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1" name="Google Shape;264;p35">
              <a:extLst>
                <a:ext uri="{FF2B5EF4-FFF2-40B4-BE49-F238E27FC236}">
                  <a16:creationId xmlns:a16="http://schemas.microsoft.com/office/drawing/2014/main" id="{EF793F3F-07B0-4206-9A67-83332A9F4B4B}"/>
                </a:ext>
              </a:extLst>
            </p:cNvPr>
            <p:cNvSpPr txBox="1">
              <a:spLocks/>
            </p:cNvSpPr>
            <p:nvPr/>
          </p:nvSpPr>
          <p:spPr>
            <a:xfrm>
              <a:off x="682753" y="1456325"/>
              <a:ext cx="7677476" cy="3820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Total Columns : 25</a:t>
              </a:r>
            </a:p>
          </p:txBody>
        </p:sp>
      </p:grpSp>
      <p:sp>
        <p:nvSpPr>
          <p:cNvPr id="33" name="Google Shape;328;p40">
            <a:extLst>
              <a:ext uri="{FF2B5EF4-FFF2-40B4-BE49-F238E27FC236}">
                <a16:creationId xmlns:a16="http://schemas.microsoft.com/office/drawing/2014/main" id="{1160F71B-8CFE-4439-A604-65B95DF523F3}"/>
              </a:ext>
            </a:extLst>
          </p:cNvPr>
          <p:cNvSpPr/>
          <p:nvPr/>
        </p:nvSpPr>
        <p:spPr>
          <a:xfrm>
            <a:off x="950119" y="3465688"/>
            <a:ext cx="107156" cy="102201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34" name="Google Shape;264;p35">
            <a:extLst>
              <a:ext uri="{FF2B5EF4-FFF2-40B4-BE49-F238E27FC236}">
                <a16:creationId xmlns:a16="http://schemas.microsoft.com/office/drawing/2014/main" id="{7C1CE702-8769-4798-A1FB-FE86921B4DC6}"/>
              </a:ext>
            </a:extLst>
          </p:cNvPr>
          <p:cNvSpPr txBox="1">
            <a:spLocks/>
          </p:cNvSpPr>
          <p:nvPr/>
        </p:nvSpPr>
        <p:spPr>
          <a:xfrm>
            <a:off x="1058873" y="3298320"/>
            <a:ext cx="2396319" cy="32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ORDERNUMBER</a:t>
            </a:r>
          </a:p>
        </p:txBody>
      </p:sp>
      <p:sp>
        <p:nvSpPr>
          <p:cNvPr id="41" name="Google Shape;328;p40">
            <a:extLst>
              <a:ext uri="{FF2B5EF4-FFF2-40B4-BE49-F238E27FC236}">
                <a16:creationId xmlns:a16="http://schemas.microsoft.com/office/drawing/2014/main" id="{89317FC6-A1F8-49AF-8A9D-E6B63CD7A6A9}"/>
              </a:ext>
            </a:extLst>
          </p:cNvPr>
          <p:cNvSpPr/>
          <p:nvPr/>
        </p:nvSpPr>
        <p:spPr>
          <a:xfrm>
            <a:off x="950119" y="3691113"/>
            <a:ext cx="107156" cy="102201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2" name="Google Shape;264;p35">
            <a:extLst>
              <a:ext uri="{FF2B5EF4-FFF2-40B4-BE49-F238E27FC236}">
                <a16:creationId xmlns:a16="http://schemas.microsoft.com/office/drawing/2014/main" id="{A83EC479-62A2-41E0-B335-2D901F4A000A}"/>
              </a:ext>
            </a:extLst>
          </p:cNvPr>
          <p:cNvSpPr txBox="1">
            <a:spLocks/>
          </p:cNvSpPr>
          <p:nvPr/>
        </p:nvSpPr>
        <p:spPr>
          <a:xfrm>
            <a:off x="1058873" y="3523745"/>
            <a:ext cx="2396319" cy="32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QUANTITYORDERED</a:t>
            </a:r>
          </a:p>
        </p:txBody>
      </p:sp>
      <p:sp>
        <p:nvSpPr>
          <p:cNvPr id="43" name="Google Shape;328;p40">
            <a:extLst>
              <a:ext uri="{FF2B5EF4-FFF2-40B4-BE49-F238E27FC236}">
                <a16:creationId xmlns:a16="http://schemas.microsoft.com/office/drawing/2014/main" id="{60C23743-AB81-4848-8CEB-76FC42DDDCC7}"/>
              </a:ext>
            </a:extLst>
          </p:cNvPr>
          <p:cNvSpPr/>
          <p:nvPr/>
        </p:nvSpPr>
        <p:spPr>
          <a:xfrm>
            <a:off x="950119" y="3913408"/>
            <a:ext cx="107156" cy="102201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5" name="Google Shape;264;p35">
            <a:extLst>
              <a:ext uri="{FF2B5EF4-FFF2-40B4-BE49-F238E27FC236}">
                <a16:creationId xmlns:a16="http://schemas.microsoft.com/office/drawing/2014/main" id="{FA4BA6A0-E126-47A1-84CD-4DEE34582761}"/>
              </a:ext>
            </a:extLst>
          </p:cNvPr>
          <p:cNvSpPr txBox="1">
            <a:spLocks/>
          </p:cNvSpPr>
          <p:nvPr/>
        </p:nvSpPr>
        <p:spPr>
          <a:xfrm>
            <a:off x="1058873" y="3746040"/>
            <a:ext cx="2396319" cy="32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PRICEEACH</a:t>
            </a:r>
          </a:p>
        </p:txBody>
      </p:sp>
      <p:sp>
        <p:nvSpPr>
          <p:cNvPr id="46" name="Google Shape;328;p40">
            <a:extLst>
              <a:ext uri="{FF2B5EF4-FFF2-40B4-BE49-F238E27FC236}">
                <a16:creationId xmlns:a16="http://schemas.microsoft.com/office/drawing/2014/main" id="{160E7B45-A4DF-41A0-A120-A0C54A6B07AD}"/>
              </a:ext>
            </a:extLst>
          </p:cNvPr>
          <p:cNvSpPr/>
          <p:nvPr/>
        </p:nvSpPr>
        <p:spPr>
          <a:xfrm>
            <a:off x="950119" y="4130092"/>
            <a:ext cx="107156" cy="102201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7" name="Google Shape;264;p35">
            <a:extLst>
              <a:ext uri="{FF2B5EF4-FFF2-40B4-BE49-F238E27FC236}">
                <a16:creationId xmlns:a16="http://schemas.microsoft.com/office/drawing/2014/main" id="{5E8E0EA6-7FC5-4A85-9B95-458E22E5905E}"/>
              </a:ext>
            </a:extLst>
          </p:cNvPr>
          <p:cNvSpPr txBox="1">
            <a:spLocks/>
          </p:cNvSpPr>
          <p:nvPr/>
        </p:nvSpPr>
        <p:spPr>
          <a:xfrm>
            <a:off x="1058873" y="3962724"/>
            <a:ext cx="2396319" cy="32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ORDERLINENUMBER</a:t>
            </a:r>
          </a:p>
        </p:txBody>
      </p:sp>
      <p:sp>
        <p:nvSpPr>
          <p:cNvPr id="48" name="Google Shape;264;p35">
            <a:extLst>
              <a:ext uri="{FF2B5EF4-FFF2-40B4-BE49-F238E27FC236}">
                <a16:creationId xmlns:a16="http://schemas.microsoft.com/office/drawing/2014/main" id="{5A27DE8A-666A-41E4-A036-64B083584135}"/>
              </a:ext>
            </a:extLst>
          </p:cNvPr>
          <p:cNvSpPr txBox="1">
            <a:spLocks/>
          </p:cNvSpPr>
          <p:nvPr/>
        </p:nvSpPr>
        <p:spPr>
          <a:xfrm>
            <a:off x="860753" y="4189723"/>
            <a:ext cx="2396319" cy="3218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and  21 other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6BD7A-8CA6-45CA-82B6-2096F8149F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00" y="1133864"/>
            <a:ext cx="4237084" cy="2225824"/>
          </a:xfrm>
          <a:prstGeom prst="rect">
            <a:avLst/>
          </a:prstGeom>
        </p:spPr>
      </p:pic>
      <p:sp>
        <p:nvSpPr>
          <p:cNvPr id="49" name="Google Shape;264;p35">
            <a:extLst>
              <a:ext uri="{FF2B5EF4-FFF2-40B4-BE49-F238E27FC236}">
                <a16:creationId xmlns:a16="http://schemas.microsoft.com/office/drawing/2014/main" id="{ACD0B34E-F33B-4C72-A973-624AD920233B}"/>
              </a:ext>
            </a:extLst>
          </p:cNvPr>
          <p:cNvSpPr txBox="1">
            <a:spLocks/>
          </p:cNvSpPr>
          <p:nvPr/>
        </p:nvSpPr>
        <p:spPr>
          <a:xfrm>
            <a:off x="5783090" y="3567889"/>
            <a:ext cx="2119703" cy="547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>
                <a:solidFill>
                  <a:schemeClr val="tx1">
                    <a:lumMod val="95000"/>
                  </a:schemeClr>
                </a:solidFill>
                <a:highlight>
                  <a:srgbClr val="C0C0C0"/>
                </a:highlight>
                <a:latin typeface="Commissioner" panose="020B0604020202020204" charset="0"/>
                <a:hlinkClick r:id="rId7"/>
              </a:rPr>
              <a:t>DATASET LINK</a:t>
            </a:r>
            <a:endParaRPr lang="en-US" dirty="0">
              <a:solidFill>
                <a:schemeClr val="tx1">
                  <a:lumMod val="95000"/>
                </a:schemeClr>
              </a:solidFill>
              <a:highlight>
                <a:srgbClr val="C0C0C0"/>
              </a:highlight>
              <a:latin typeface="Commission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277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699605"/>
            <a:ext cx="4445360" cy="1029700"/>
            <a:chOff x="474478" y="1456325"/>
            <a:chExt cx="4445360" cy="1029700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10297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rgbClr val="92D050"/>
                  </a:solidFill>
                  <a:latin typeface="Commissioner" panose="020B0604020202020204" charset="0"/>
                </a:rPr>
                <a:t>USA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 is the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Highest Sales 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of all countries, </a:t>
              </a:r>
              <a:r>
                <a:rPr lang="en-US" sz="1800" dirty="0">
                  <a:solidFill>
                    <a:srgbClr val="92D050"/>
                  </a:solidFill>
                  <a:latin typeface="Commissioner" panose="020B0604020202020204" charset="0"/>
                </a:rPr>
                <a:t>Spain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 and </a:t>
              </a:r>
              <a:r>
                <a:rPr lang="en-US" sz="1800" dirty="0">
                  <a:solidFill>
                    <a:srgbClr val="92D050"/>
                  </a:solidFill>
                  <a:latin typeface="Commissioner" panose="020B0604020202020204" charset="0"/>
                </a:rPr>
                <a:t>France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 follow in second and third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4440422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ID" dirty="0">
                <a:solidFill>
                  <a:schemeClr val="tx1"/>
                </a:solidFill>
              </a:rPr>
              <a:t>ales by Country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500877-D23B-4C91-9DBB-B7EB7ECAE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180" y="1193934"/>
            <a:ext cx="4145639" cy="2755631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ED6A0FE8-0DD7-4573-912B-8ACF232703D8}"/>
              </a:ext>
            </a:extLst>
          </p:cNvPr>
          <p:cNvGrpSpPr/>
          <p:nvPr/>
        </p:nvGrpSpPr>
        <p:grpSpPr>
          <a:xfrm>
            <a:off x="461636" y="2665621"/>
            <a:ext cx="4445360" cy="1029700"/>
            <a:chOff x="474478" y="1456325"/>
            <a:chExt cx="4445360" cy="1029700"/>
          </a:xfrm>
        </p:grpSpPr>
        <p:sp>
          <p:nvSpPr>
            <p:cNvPr id="54" name="Google Shape;328;p40">
              <a:extLst>
                <a:ext uri="{FF2B5EF4-FFF2-40B4-BE49-F238E27FC236}">
                  <a16:creationId xmlns:a16="http://schemas.microsoft.com/office/drawing/2014/main" id="{AA000321-976C-4228-B6CE-E650CB0525D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55" name="Google Shape;264;p35">
              <a:extLst>
                <a:ext uri="{FF2B5EF4-FFF2-40B4-BE49-F238E27FC236}">
                  <a16:creationId xmlns:a16="http://schemas.microsoft.com/office/drawing/2014/main" id="{9730873E-BB95-4A07-AB5E-57252F4C1685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10297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USA contributes over </a:t>
              </a:r>
              <a:r>
                <a:rPr lang="en-US" sz="1800" b="1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36% of total sales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28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634288"/>
            <a:ext cx="4445360" cy="512915"/>
            <a:chOff x="474478" y="1456325"/>
            <a:chExt cx="4445360" cy="512915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Classic cars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is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the most sold category</a:t>
              </a:r>
              <a:endParaRPr lang="en-US" sz="1800" b="1" dirty="0">
                <a:solidFill>
                  <a:srgbClr val="FFC000"/>
                </a:solidFill>
                <a:latin typeface="Commissioner" panose="020B0604020202020204" charset="0"/>
              </a:endParaRP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4440422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ID" dirty="0">
                <a:solidFill>
                  <a:schemeClr val="tx1"/>
                </a:solidFill>
              </a:rPr>
              <a:t>ales based on Product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D6A0FE8-0DD7-4573-912B-8ACF232703D8}"/>
              </a:ext>
            </a:extLst>
          </p:cNvPr>
          <p:cNvGrpSpPr/>
          <p:nvPr/>
        </p:nvGrpSpPr>
        <p:grpSpPr>
          <a:xfrm>
            <a:off x="461636" y="2057436"/>
            <a:ext cx="4445360" cy="1029700"/>
            <a:chOff x="474478" y="1456325"/>
            <a:chExt cx="4445360" cy="1029700"/>
          </a:xfrm>
        </p:grpSpPr>
        <p:sp>
          <p:nvSpPr>
            <p:cNvPr id="54" name="Google Shape;328;p40">
              <a:extLst>
                <a:ext uri="{FF2B5EF4-FFF2-40B4-BE49-F238E27FC236}">
                  <a16:creationId xmlns:a16="http://schemas.microsoft.com/office/drawing/2014/main" id="{AA000321-976C-4228-B6CE-E650CB0525D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55" name="Google Shape;264;p35">
              <a:extLst>
                <a:ext uri="{FF2B5EF4-FFF2-40B4-BE49-F238E27FC236}">
                  <a16:creationId xmlns:a16="http://schemas.microsoft.com/office/drawing/2014/main" id="{9730873E-BB95-4A07-AB5E-57252F4C1685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1029700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Trains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 and </a:t>
              </a:r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ships</a:t>
              </a:r>
              <a:r>
                <a:rPr lang="en-US" sz="1800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 are the </a:t>
              </a:r>
              <a:r>
                <a:rPr lang="en-US" sz="1800" b="1" dirty="0">
                  <a:solidFill>
                    <a:schemeClr val="tx1">
                      <a:lumMod val="95000"/>
                    </a:schemeClr>
                  </a:solidFill>
                  <a:latin typeface="Commissioner" panose="020B0604020202020204" charset="0"/>
                </a:rPr>
                <a:t>lowest contributors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D7BA604-DF44-46F8-8FDB-BF2F9ACF2F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560" y="1098403"/>
            <a:ext cx="4341811" cy="26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17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525009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Yearly S</a:t>
            </a:r>
            <a:r>
              <a:rPr lang="en-ID" dirty="0">
                <a:solidFill>
                  <a:schemeClr val="tx1"/>
                </a:solidFill>
              </a:rPr>
              <a:t>ales Performance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1FE199-AD9A-4297-B238-E4B662AD9E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33" y="1687234"/>
            <a:ext cx="4810161" cy="2755631"/>
          </a:xfrm>
          <a:prstGeom prst="rect">
            <a:avLst/>
          </a:prstGeom>
        </p:spPr>
      </p:pic>
      <p:sp>
        <p:nvSpPr>
          <p:cNvPr id="20" name="Google Shape;264;p35">
            <a:extLst>
              <a:ext uri="{FF2B5EF4-FFF2-40B4-BE49-F238E27FC236}">
                <a16:creationId xmlns:a16="http://schemas.microsoft.com/office/drawing/2014/main" id="{BB648F90-A885-40B7-9C93-93EE556CF771}"/>
              </a:ext>
            </a:extLst>
          </p:cNvPr>
          <p:cNvSpPr txBox="1">
            <a:spLocks/>
          </p:cNvSpPr>
          <p:nvPr/>
        </p:nvSpPr>
        <p:spPr>
          <a:xfrm>
            <a:off x="5699112" y="1687224"/>
            <a:ext cx="3292488" cy="2755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The total sales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increased in </a:t>
            </a:r>
            <a:r>
              <a:rPr lang="en-US" sz="1800" dirty="0">
                <a:solidFill>
                  <a:srgbClr val="FF0000"/>
                </a:solidFill>
                <a:latin typeface="Commissioner" panose="020B0604020202020204" charset="0"/>
              </a:rPr>
              <a:t>2004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 compared to </a:t>
            </a:r>
            <a:r>
              <a:rPr lang="en-US" sz="1800" dirty="0">
                <a:solidFill>
                  <a:srgbClr val="FF0000"/>
                </a:solidFill>
                <a:latin typeface="Commissioner" panose="020B0604020202020204" charset="0"/>
              </a:rPr>
              <a:t>2003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, indicating strong business growth. However, sales </a:t>
            </a:r>
            <a:r>
              <a:rPr lang="en-US" sz="1800" b="1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dropped significantly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 in </a:t>
            </a:r>
            <a:r>
              <a:rPr lang="en-US" sz="1800" dirty="0">
                <a:solidFill>
                  <a:srgbClr val="FF0000"/>
                </a:solidFill>
                <a:latin typeface="Commissioner" panose="020B0604020202020204" charset="0"/>
              </a:rPr>
              <a:t>2005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, reflecting a sharp decline in performance after the peak in </a:t>
            </a:r>
            <a:r>
              <a:rPr lang="en-US" sz="1800" dirty="0">
                <a:solidFill>
                  <a:srgbClr val="FF0000"/>
                </a:solidFill>
                <a:latin typeface="Commissioner" panose="020B0604020202020204" charset="0"/>
              </a:rPr>
              <a:t>2004</a:t>
            </a: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ommissioner" panose="020B060402020202020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137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558091"/>
            <a:ext cx="4445360" cy="512915"/>
            <a:chOff x="474478" y="1456325"/>
            <a:chExt cx="4445360" cy="512915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Total Sales :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$ 3.516.979,54</a:t>
              </a:r>
            </a:p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525009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2003 S</a:t>
            </a:r>
            <a:r>
              <a:rPr lang="en-ID" sz="3200" dirty="0">
                <a:solidFill>
                  <a:schemeClr val="tx1"/>
                </a:solidFill>
              </a:rPr>
              <a:t>ales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853089-930C-499F-8F1D-1238328C0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347" y="1098403"/>
            <a:ext cx="4237084" cy="2577420"/>
          </a:xfrm>
          <a:prstGeom prst="rect">
            <a:avLst/>
          </a:prstGeom>
        </p:spPr>
      </p:pic>
      <p:sp>
        <p:nvSpPr>
          <p:cNvPr id="26" name="Google Shape;264;p35">
            <a:extLst>
              <a:ext uri="{FF2B5EF4-FFF2-40B4-BE49-F238E27FC236}">
                <a16:creationId xmlns:a16="http://schemas.microsoft.com/office/drawing/2014/main" id="{84EEFE23-4402-4B44-8BA7-7E3FC97ECCD3}"/>
              </a:ext>
            </a:extLst>
          </p:cNvPr>
          <p:cNvSpPr txBox="1">
            <a:spLocks/>
          </p:cNvSpPr>
          <p:nvPr/>
        </p:nvSpPr>
        <p:spPr>
          <a:xfrm>
            <a:off x="669912" y="2507160"/>
            <a:ext cx="4237084" cy="512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rgbClr val="FFC000"/>
                </a:solidFill>
                <a:latin typeface="Commissioner" panose="020B0604020202020204" charset="0"/>
              </a:rPr>
              <a:t> 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0B7911D-743B-4D95-9C6C-AD6C47681B6D}"/>
              </a:ext>
            </a:extLst>
          </p:cNvPr>
          <p:cNvGrpSpPr/>
          <p:nvPr/>
        </p:nvGrpSpPr>
        <p:grpSpPr>
          <a:xfrm>
            <a:off x="4698640" y="3747239"/>
            <a:ext cx="4445360" cy="512915"/>
            <a:chOff x="474478" y="1456325"/>
            <a:chExt cx="4445360" cy="512915"/>
          </a:xfrm>
        </p:grpSpPr>
        <p:sp>
          <p:nvSpPr>
            <p:cNvPr id="30" name="Google Shape;328;p40">
              <a:extLst>
                <a:ext uri="{FF2B5EF4-FFF2-40B4-BE49-F238E27FC236}">
                  <a16:creationId xmlns:a16="http://schemas.microsoft.com/office/drawing/2014/main" id="{66B063C5-1314-43B3-9324-D9E5150786F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1" name="Google Shape;264;p35">
              <a:extLst>
                <a:ext uri="{FF2B5EF4-FFF2-40B4-BE49-F238E27FC236}">
                  <a16:creationId xmlns:a16="http://schemas.microsoft.com/office/drawing/2014/main" id="{61FA737F-327A-4565-998E-CF4DBB11247E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Sales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peaked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November 2003 (Q4) </a:t>
              </a:r>
              <a:endParaRPr lang="en-US" sz="1800" b="1" dirty="0">
                <a:solidFill>
                  <a:srgbClr val="00B0F0"/>
                </a:solidFill>
                <a:latin typeface="Commissioner" panose="020B0604020202020204" charset="0"/>
              </a:endParaRPr>
            </a:p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909FBC5-3AF6-4529-AA6C-A0FCF20E91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97" y="2071006"/>
            <a:ext cx="3916164" cy="237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87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558091"/>
            <a:ext cx="4445360" cy="512915"/>
            <a:chOff x="474478" y="1456325"/>
            <a:chExt cx="4445360" cy="512915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Total Sales :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$ 4.724.162,60</a:t>
              </a:r>
            </a:p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525009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2004 S</a:t>
            </a:r>
            <a:r>
              <a:rPr lang="en-ID" sz="3200" dirty="0">
                <a:solidFill>
                  <a:schemeClr val="tx1"/>
                </a:solidFill>
              </a:rPr>
              <a:t>ales Performance</a:t>
            </a:r>
          </a:p>
        </p:txBody>
      </p:sp>
      <p:sp>
        <p:nvSpPr>
          <p:cNvPr id="26" name="Google Shape;264;p35">
            <a:extLst>
              <a:ext uri="{FF2B5EF4-FFF2-40B4-BE49-F238E27FC236}">
                <a16:creationId xmlns:a16="http://schemas.microsoft.com/office/drawing/2014/main" id="{84EEFE23-4402-4B44-8BA7-7E3FC97ECCD3}"/>
              </a:ext>
            </a:extLst>
          </p:cNvPr>
          <p:cNvSpPr txBox="1">
            <a:spLocks/>
          </p:cNvSpPr>
          <p:nvPr/>
        </p:nvSpPr>
        <p:spPr>
          <a:xfrm>
            <a:off x="669912" y="2507160"/>
            <a:ext cx="4237084" cy="512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rgbClr val="FFC000"/>
                </a:solidFill>
                <a:latin typeface="Commissioner" panose="020B0604020202020204" charset="0"/>
              </a:rPr>
              <a:t> 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0B7911D-743B-4D95-9C6C-AD6C47681B6D}"/>
              </a:ext>
            </a:extLst>
          </p:cNvPr>
          <p:cNvGrpSpPr/>
          <p:nvPr/>
        </p:nvGrpSpPr>
        <p:grpSpPr>
          <a:xfrm>
            <a:off x="4698640" y="3747239"/>
            <a:ext cx="4445360" cy="512915"/>
            <a:chOff x="474478" y="1456325"/>
            <a:chExt cx="4445360" cy="512915"/>
          </a:xfrm>
        </p:grpSpPr>
        <p:sp>
          <p:nvSpPr>
            <p:cNvPr id="30" name="Google Shape;328;p40">
              <a:extLst>
                <a:ext uri="{FF2B5EF4-FFF2-40B4-BE49-F238E27FC236}">
                  <a16:creationId xmlns:a16="http://schemas.microsoft.com/office/drawing/2014/main" id="{66B063C5-1314-43B3-9324-D9E5150786F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1" name="Google Shape;264;p35">
              <a:extLst>
                <a:ext uri="{FF2B5EF4-FFF2-40B4-BE49-F238E27FC236}">
                  <a16:creationId xmlns:a16="http://schemas.microsoft.com/office/drawing/2014/main" id="{61FA737F-327A-4565-998E-CF4DBB11247E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Sales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peaked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November 2004 (Q4) </a:t>
              </a:r>
              <a:endParaRPr lang="en-US" sz="1800" b="1" dirty="0">
                <a:solidFill>
                  <a:srgbClr val="00B0F0"/>
                </a:solidFill>
                <a:latin typeface="Commissioner" panose="020B0604020202020204" charset="0"/>
              </a:endParaRPr>
            </a:p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53ED358-CD90-47C4-8432-E8FA4D43B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143" y="1104343"/>
            <a:ext cx="4237084" cy="2572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445960-2ECF-40BD-941D-D367AFDDDF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97" y="2076809"/>
            <a:ext cx="3942661" cy="23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56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558091"/>
            <a:ext cx="4445360" cy="512915"/>
            <a:chOff x="474478" y="1456325"/>
            <a:chExt cx="4445360" cy="512915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51291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Total Sales :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$ 1.791.486,71</a:t>
              </a:r>
            </a:p>
            <a:p>
              <a:endParaRPr lang="en-US" sz="1800" b="1" dirty="0">
                <a:solidFill>
                  <a:schemeClr val="tx1"/>
                </a:solidFill>
                <a:latin typeface="Commissioner" panose="020B0604020202020204" charset="0"/>
              </a:endParaRPr>
            </a:p>
            <a:p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525009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</a:rPr>
              <a:t>2005 S</a:t>
            </a:r>
            <a:r>
              <a:rPr lang="en-ID" sz="3200" dirty="0">
                <a:solidFill>
                  <a:schemeClr val="tx1"/>
                </a:solidFill>
              </a:rPr>
              <a:t>ales Performance</a:t>
            </a:r>
          </a:p>
        </p:txBody>
      </p:sp>
      <p:sp>
        <p:nvSpPr>
          <p:cNvPr id="26" name="Google Shape;264;p35">
            <a:extLst>
              <a:ext uri="{FF2B5EF4-FFF2-40B4-BE49-F238E27FC236}">
                <a16:creationId xmlns:a16="http://schemas.microsoft.com/office/drawing/2014/main" id="{84EEFE23-4402-4B44-8BA7-7E3FC97ECCD3}"/>
              </a:ext>
            </a:extLst>
          </p:cNvPr>
          <p:cNvSpPr txBox="1">
            <a:spLocks/>
          </p:cNvSpPr>
          <p:nvPr/>
        </p:nvSpPr>
        <p:spPr>
          <a:xfrm>
            <a:off x="669912" y="2507160"/>
            <a:ext cx="4237084" cy="512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solidFill>
                  <a:srgbClr val="FFC000"/>
                </a:solidFill>
                <a:latin typeface="Commissioner" panose="020B0604020202020204" charset="0"/>
              </a:rPr>
              <a:t> 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0B7911D-743B-4D95-9C6C-AD6C47681B6D}"/>
              </a:ext>
            </a:extLst>
          </p:cNvPr>
          <p:cNvGrpSpPr/>
          <p:nvPr/>
        </p:nvGrpSpPr>
        <p:grpSpPr>
          <a:xfrm>
            <a:off x="4698640" y="3747239"/>
            <a:ext cx="4445360" cy="714677"/>
            <a:chOff x="474478" y="1456325"/>
            <a:chExt cx="4445360" cy="714677"/>
          </a:xfrm>
        </p:grpSpPr>
        <p:sp>
          <p:nvSpPr>
            <p:cNvPr id="30" name="Google Shape;328;p40">
              <a:extLst>
                <a:ext uri="{FF2B5EF4-FFF2-40B4-BE49-F238E27FC236}">
                  <a16:creationId xmlns:a16="http://schemas.microsoft.com/office/drawing/2014/main" id="{66B063C5-1314-43B3-9324-D9E5150786F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31" name="Google Shape;264;p35">
              <a:extLst>
                <a:ext uri="{FF2B5EF4-FFF2-40B4-BE49-F238E27FC236}">
                  <a16:creationId xmlns:a16="http://schemas.microsoft.com/office/drawing/2014/main" id="{61FA737F-327A-4565-998E-CF4DBB11247E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4237084" cy="714677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A sharp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decline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2005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indicates a </a:t>
              </a:r>
              <a:r>
                <a:rPr lang="en-US" sz="1800" dirty="0">
                  <a:solidFill>
                    <a:srgbClr val="FF0000"/>
                  </a:solidFill>
                  <a:latin typeface="Commissioner" panose="020B0604020202020204" charset="0"/>
                </a:rPr>
                <a:t>loss of momentum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after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2004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.</a:t>
              </a:r>
              <a:r>
                <a:rPr lang="en-US" sz="1800" dirty="0">
                  <a:solidFill>
                    <a:srgbClr val="FFC000"/>
                  </a:solidFill>
                  <a:latin typeface="Commissioner" panose="020B0604020202020204" charset="0"/>
                </a:rPr>
                <a:t>  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AD4B1C7-BE1A-4E7D-B10D-A790EC58F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755" y="1122534"/>
            <a:ext cx="4237084" cy="2561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D9C174-CC2E-4ED3-B73E-DB7BB81067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197" y="2080531"/>
            <a:ext cx="3942661" cy="238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48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681914"/>
            <a:ext cx="8220728" cy="727912"/>
            <a:chOff x="474478" y="1456326"/>
            <a:chExt cx="10914015" cy="727912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6"/>
              <a:ext cx="10705739" cy="72791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Over the three-year period (2003–2005), sales showed a </a:t>
              </a:r>
              <a:r>
                <a:rPr lang="en-US" sz="1900" b="1" dirty="0">
                  <a:solidFill>
                    <a:schemeClr val="tx1"/>
                  </a:solidFill>
                  <a:latin typeface="Commissioner" panose="020B0604020202020204" charset="0"/>
                </a:rPr>
                <a:t>strong upward 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trend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2004</a:t>
              </a:r>
              <a:r>
                <a:rPr lang="en-US" sz="1800" dirty="0">
                  <a:solidFill>
                    <a:srgbClr val="FF0000"/>
                  </a:solidFill>
                  <a:latin typeface="Commissioner" panose="020B0604020202020204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but experienced a </a:t>
              </a:r>
              <a:r>
                <a:rPr lang="en-US" sz="1800" dirty="0">
                  <a:solidFill>
                    <a:srgbClr val="FF0000"/>
                  </a:solidFill>
                  <a:latin typeface="Commissioner" panose="020B0604020202020204" charset="0"/>
                </a:rPr>
                <a:t>significant decline 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2005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.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6" y="988207"/>
            <a:ext cx="4440422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Insight Conclusion</a:t>
            </a:r>
            <a:endParaRPr lang="en-ID" dirty="0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865056-7A3C-4247-935C-893F47AFE078}"/>
              </a:ext>
            </a:extLst>
          </p:cNvPr>
          <p:cNvGrpSpPr/>
          <p:nvPr/>
        </p:nvGrpSpPr>
        <p:grpSpPr>
          <a:xfrm>
            <a:off x="461636" y="2407819"/>
            <a:ext cx="8220728" cy="1747474"/>
            <a:chOff x="474478" y="1456326"/>
            <a:chExt cx="10914015" cy="1747474"/>
          </a:xfrm>
        </p:grpSpPr>
        <p:sp>
          <p:nvSpPr>
            <p:cNvPr id="27" name="Google Shape;328;p40">
              <a:extLst>
                <a:ext uri="{FF2B5EF4-FFF2-40B4-BE49-F238E27FC236}">
                  <a16:creationId xmlns:a16="http://schemas.microsoft.com/office/drawing/2014/main" id="{69A7729E-CE6D-4791-AE1F-954544B5E96C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9" name="Google Shape;264;p35">
              <a:extLst>
                <a:ext uri="{FF2B5EF4-FFF2-40B4-BE49-F238E27FC236}">
                  <a16:creationId xmlns:a16="http://schemas.microsoft.com/office/drawing/2014/main" id="{0089123C-4E46-49B6-B5BE-9D7445240735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6"/>
              <a:ext cx="10705739" cy="1747474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Each year,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Q4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</a:t>
              </a:r>
              <a:r>
                <a:rPr lang="en-US" sz="1900" b="1" dirty="0">
                  <a:solidFill>
                    <a:schemeClr val="tx1"/>
                  </a:solidFill>
                  <a:latin typeface="Commissioner" panose="020B0604020202020204" charset="0"/>
                </a:rPr>
                <a:t>consistently generated the highest sales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, with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November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often </a:t>
              </a:r>
              <a:r>
                <a:rPr lang="en-US" sz="1900" b="1" dirty="0">
                  <a:solidFill>
                    <a:schemeClr val="tx1"/>
                  </a:solidFill>
                  <a:latin typeface="Commissioner" panose="020B0604020202020204" charset="0"/>
                </a:rPr>
                <a:t>marking the peak month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. This indicates a recurring seasonal trend, likely driven by end-of-year demand or promotional campaigns. However, </a:t>
              </a:r>
              <a:r>
                <a:rPr lang="en-US" sz="1800" dirty="0">
                  <a:solidFill>
                    <a:srgbClr val="FF0000"/>
                  </a:solidFill>
                  <a:latin typeface="Commissioner" panose="020B0604020202020204" charset="0"/>
                </a:rPr>
                <a:t>the sharp drop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in </a:t>
              </a:r>
              <a:r>
                <a:rPr lang="en-US" sz="1800" dirty="0">
                  <a:solidFill>
                    <a:srgbClr val="00B0F0"/>
                  </a:solidFill>
                  <a:latin typeface="Commissioner" panose="020B0604020202020204" charset="0"/>
                </a:rPr>
                <a:t>2005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 signals a potential issue, such as</a:t>
              </a:r>
              <a:r>
                <a:rPr lang="en-US" sz="1800" b="1" dirty="0">
                  <a:solidFill>
                    <a:schemeClr val="tx1"/>
                  </a:solidFill>
                  <a:latin typeface="Commissioner" panose="020B0604020202020204" charset="0"/>
                </a:rPr>
                <a:t> </a:t>
              </a:r>
              <a:r>
                <a:rPr lang="en-US" sz="1900" b="1" dirty="0">
                  <a:solidFill>
                    <a:schemeClr val="tx1"/>
                  </a:solidFill>
                  <a:latin typeface="Commissioner" panose="020B0604020202020204" charset="0"/>
                </a:rPr>
                <a:t>market saturation, reduced promotional effectiveness, or internal inefficiencies</a:t>
              </a:r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4656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681914"/>
            <a:ext cx="8220728" cy="727912"/>
            <a:chOff x="474478" y="1456326"/>
            <a:chExt cx="10914015" cy="727912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6"/>
              <a:ext cx="10705739" cy="727912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Enhance Q4 Campaigns Strategically</a:t>
              </a:r>
            </a:p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Capitalize on the strong year-end performance by planning targeted promotions, bundling offers, or loyalty programs starting in Q3.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5" y="988207"/>
            <a:ext cx="5270509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Business Plan Suggestion</a:t>
            </a:r>
            <a:endParaRPr lang="en-ID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0A16EF-BB45-4F51-BA43-2FDD05A2DA62}"/>
              </a:ext>
            </a:extLst>
          </p:cNvPr>
          <p:cNvGrpSpPr/>
          <p:nvPr/>
        </p:nvGrpSpPr>
        <p:grpSpPr>
          <a:xfrm>
            <a:off x="461636" y="2558213"/>
            <a:ext cx="8220728" cy="1261311"/>
            <a:chOff x="474478" y="1456325"/>
            <a:chExt cx="10914015" cy="1261311"/>
          </a:xfrm>
        </p:grpSpPr>
        <p:sp>
          <p:nvSpPr>
            <p:cNvPr id="16" name="Google Shape;328;p40">
              <a:extLst>
                <a:ext uri="{FF2B5EF4-FFF2-40B4-BE49-F238E27FC236}">
                  <a16:creationId xmlns:a16="http://schemas.microsoft.com/office/drawing/2014/main" id="{C59DB8E4-8039-4C0F-93F8-E8D16E6B9D66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18" name="Google Shape;264;p35">
              <a:extLst>
                <a:ext uri="{FF2B5EF4-FFF2-40B4-BE49-F238E27FC236}">
                  <a16:creationId xmlns:a16="http://schemas.microsoft.com/office/drawing/2014/main" id="{C91B0502-B241-4AA9-95C9-8869A78CFB79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10705739" cy="1261311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Investigate 2005 Sales Drop</a:t>
              </a:r>
            </a:p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Conduct a root cause analysis to understand the sharp decline in 2005,  examine factors like product availability, competition, pricing, and customer behavior.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E9BAAE-64B9-48C0-A392-04046AB0BE94}"/>
              </a:ext>
            </a:extLst>
          </p:cNvPr>
          <p:cNvGrpSpPr/>
          <p:nvPr/>
        </p:nvGrpSpPr>
        <p:grpSpPr>
          <a:xfrm>
            <a:off x="461636" y="3649883"/>
            <a:ext cx="8220728" cy="1261311"/>
            <a:chOff x="474478" y="1456325"/>
            <a:chExt cx="10914015" cy="1261311"/>
          </a:xfrm>
        </p:grpSpPr>
        <p:sp>
          <p:nvSpPr>
            <p:cNvPr id="20" name="Google Shape;328;p40">
              <a:extLst>
                <a:ext uri="{FF2B5EF4-FFF2-40B4-BE49-F238E27FC236}">
                  <a16:creationId xmlns:a16="http://schemas.microsoft.com/office/drawing/2014/main" id="{EE1DE53B-50CB-41DE-9930-4E255D1153B8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4" name="Google Shape;264;p35">
              <a:extLst>
                <a:ext uri="{FF2B5EF4-FFF2-40B4-BE49-F238E27FC236}">
                  <a16:creationId xmlns:a16="http://schemas.microsoft.com/office/drawing/2014/main" id="{8778DB1A-D858-4166-A4D1-85785CFDD4B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10705739" cy="1261311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Diversify Sales Channels &amp; Seasons</a:t>
              </a:r>
            </a:p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Explore opportunities to boost sales in weaker quarters (Q1–Q3), such as launching mid-year campaigns or seasonal offers tied to local events.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809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BC661F1-164C-4C57-9DA4-3BFC3E0E502A}"/>
              </a:ext>
            </a:extLst>
          </p:cNvPr>
          <p:cNvGrpSpPr/>
          <p:nvPr/>
        </p:nvGrpSpPr>
        <p:grpSpPr>
          <a:xfrm>
            <a:off x="7422474" y="62861"/>
            <a:ext cx="1695781" cy="526264"/>
            <a:chOff x="7360810" y="25962"/>
            <a:chExt cx="1695781" cy="526264"/>
          </a:xfrm>
        </p:grpSpPr>
        <p:pic>
          <p:nvPicPr>
            <p:cNvPr id="12" name="Picture 11">
              <a:hlinkClick r:id="rId3"/>
              <a:extLst>
                <a:ext uri="{FF2B5EF4-FFF2-40B4-BE49-F238E27FC236}">
                  <a16:creationId xmlns:a16="http://schemas.microsoft.com/office/drawing/2014/main" id="{B6F6C61C-DBD2-40B1-A37E-FEACB6AC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13" name="Google Shape;193;p29">
              <a:extLst>
                <a:ext uri="{FF2B5EF4-FFF2-40B4-BE49-F238E27FC236}">
                  <a16:creationId xmlns:a16="http://schemas.microsoft.com/office/drawing/2014/main" id="{7633447A-F711-41DE-8A44-62DB88F5E28E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17" name="Google Shape;181;p28">
            <a:extLst>
              <a:ext uri="{FF2B5EF4-FFF2-40B4-BE49-F238E27FC236}">
                <a16:creationId xmlns:a16="http://schemas.microsoft.com/office/drawing/2014/main" id="{3E530AC8-9A62-4A99-A21F-A5D3E17D9023}"/>
              </a:ext>
            </a:extLst>
          </p:cNvPr>
          <p:cNvSpPr txBox="1">
            <a:spLocks/>
          </p:cNvSpPr>
          <p:nvPr/>
        </p:nvSpPr>
        <p:spPr>
          <a:xfrm>
            <a:off x="422085" y="79683"/>
            <a:ext cx="3770488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r"/>
            <a:r>
              <a:rPr lang="en-ID" sz="2400" dirty="0"/>
              <a:t>Sales Performance Dashboard </a:t>
            </a:r>
            <a:endParaRPr lang="en-ID" sz="2400" dirty="0">
              <a:solidFill>
                <a:schemeClr val="dk2"/>
              </a:solidFill>
              <a:highlight>
                <a:schemeClr val="accent2"/>
              </a:highlight>
            </a:endParaRPr>
          </a:p>
        </p:txBody>
      </p:sp>
      <p:sp>
        <p:nvSpPr>
          <p:cNvPr id="28" name="Subtitle 4">
            <a:extLst>
              <a:ext uri="{FF2B5EF4-FFF2-40B4-BE49-F238E27FC236}">
                <a16:creationId xmlns:a16="http://schemas.microsoft.com/office/drawing/2014/main" id="{A401EDFD-AAEE-43D4-A1B0-ADA7493408FD}"/>
              </a:ext>
            </a:extLst>
          </p:cNvPr>
          <p:cNvSpPr txBox="1">
            <a:spLocks/>
          </p:cNvSpPr>
          <p:nvPr/>
        </p:nvSpPr>
        <p:spPr>
          <a:xfrm>
            <a:off x="7304807" y="429615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  <p:cxnSp>
        <p:nvCxnSpPr>
          <p:cNvPr id="44" name="Google Shape;186;p28">
            <a:extLst>
              <a:ext uri="{FF2B5EF4-FFF2-40B4-BE49-F238E27FC236}">
                <a16:creationId xmlns:a16="http://schemas.microsoft.com/office/drawing/2014/main" id="{434430E6-1F2B-464B-A66F-5487835D4032}"/>
              </a:ext>
            </a:extLst>
          </p:cNvPr>
          <p:cNvCxnSpPr/>
          <p:nvPr/>
        </p:nvCxnSpPr>
        <p:spPr>
          <a:xfrm rot="10800000">
            <a:off x="-78666" y="700636"/>
            <a:ext cx="9290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5ACC3F8-119C-46F7-BA95-A42A7508032D}"/>
              </a:ext>
            </a:extLst>
          </p:cNvPr>
          <p:cNvGrpSpPr/>
          <p:nvPr/>
        </p:nvGrpSpPr>
        <p:grpSpPr>
          <a:xfrm>
            <a:off x="461636" y="1681913"/>
            <a:ext cx="8220728" cy="974337"/>
            <a:chOff x="474478" y="1456325"/>
            <a:chExt cx="10914015" cy="974337"/>
          </a:xfrm>
        </p:grpSpPr>
        <p:sp>
          <p:nvSpPr>
            <p:cNvPr id="22" name="Google Shape;328;p40">
              <a:extLst>
                <a:ext uri="{FF2B5EF4-FFF2-40B4-BE49-F238E27FC236}">
                  <a16:creationId xmlns:a16="http://schemas.microsoft.com/office/drawing/2014/main" id="{0C5D7380-3498-44E2-9643-511CC7AC89AF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23" name="Google Shape;264;p35">
              <a:extLst>
                <a:ext uri="{FF2B5EF4-FFF2-40B4-BE49-F238E27FC236}">
                  <a16:creationId xmlns:a16="http://schemas.microsoft.com/office/drawing/2014/main" id="{89C9F50F-6CF6-469B-A6AA-1CB4D4E7E6D3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10705739" cy="974337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Data-Driven Forecasting &amp; Inventory Planning</a:t>
              </a:r>
            </a:p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Use historical data trends to forecast demand and optimize stock levels, especially for high-performing periods like Q4.</a:t>
              </a:r>
            </a:p>
          </p:txBody>
        </p:sp>
      </p:grpSp>
      <p:sp>
        <p:nvSpPr>
          <p:cNvPr id="50" name="Google Shape;191;p29">
            <a:extLst>
              <a:ext uri="{FF2B5EF4-FFF2-40B4-BE49-F238E27FC236}">
                <a16:creationId xmlns:a16="http://schemas.microsoft.com/office/drawing/2014/main" id="{63EC7F76-F257-4762-84A0-589114BCED86}"/>
              </a:ext>
            </a:extLst>
          </p:cNvPr>
          <p:cNvSpPr txBox="1">
            <a:spLocks/>
          </p:cNvSpPr>
          <p:nvPr/>
        </p:nvSpPr>
        <p:spPr>
          <a:xfrm>
            <a:off x="454015" y="988207"/>
            <a:ext cx="5270509" cy="62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jalla One"/>
              <a:buNone/>
              <a:defRPr sz="35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Business Plan Suggestion</a:t>
            </a:r>
            <a:endParaRPr lang="en-ID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0A16EF-BB45-4F51-BA43-2FDD05A2DA62}"/>
              </a:ext>
            </a:extLst>
          </p:cNvPr>
          <p:cNvGrpSpPr/>
          <p:nvPr/>
        </p:nvGrpSpPr>
        <p:grpSpPr>
          <a:xfrm>
            <a:off x="461636" y="2548688"/>
            <a:ext cx="8220728" cy="1261311"/>
            <a:chOff x="474478" y="1456325"/>
            <a:chExt cx="10914015" cy="1261311"/>
          </a:xfrm>
        </p:grpSpPr>
        <p:sp>
          <p:nvSpPr>
            <p:cNvPr id="16" name="Google Shape;328;p40">
              <a:extLst>
                <a:ext uri="{FF2B5EF4-FFF2-40B4-BE49-F238E27FC236}">
                  <a16:creationId xmlns:a16="http://schemas.microsoft.com/office/drawing/2014/main" id="{C59DB8E4-8039-4C0F-93F8-E8D16E6B9D66}"/>
                </a:ext>
              </a:extLst>
            </p:cNvPr>
            <p:cNvSpPr/>
            <p:nvPr/>
          </p:nvSpPr>
          <p:spPr>
            <a:xfrm>
              <a:off x="474478" y="1633595"/>
              <a:ext cx="135122" cy="1284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  <p:sp>
          <p:nvSpPr>
            <p:cNvPr id="18" name="Google Shape;264;p35">
              <a:extLst>
                <a:ext uri="{FF2B5EF4-FFF2-40B4-BE49-F238E27FC236}">
                  <a16:creationId xmlns:a16="http://schemas.microsoft.com/office/drawing/2014/main" id="{C91B0502-B241-4AA9-95C9-8869A78CFB79}"/>
                </a:ext>
              </a:extLst>
            </p:cNvPr>
            <p:cNvSpPr txBox="1">
              <a:spLocks/>
            </p:cNvSpPr>
            <p:nvPr/>
          </p:nvSpPr>
          <p:spPr>
            <a:xfrm>
              <a:off x="682754" y="1456325"/>
              <a:ext cx="10705739" cy="1261311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Strengthen Customer Engagement</a:t>
              </a:r>
            </a:p>
            <a:p>
              <a:r>
                <a:rPr lang="en-US" sz="1800" dirty="0">
                  <a:solidFill>
                    <a:schemeClr val="tx1"/>
                  </a:solidFill>
                  <a:latin typeface="Commissioner" panose="020B0604020202020204" charset="0"/>
                </a:rPr>
                <a:t>Invest in CRM and email marketing tools to maintain engagement throughout the year, reducing dependency on a single quarter.</a:t>
              </a:r>
            </a:p>
          </p:txBody>
        </p:sp>
      </p:grpSp>
      <p:sp>
        <p:nvSpPr>
          <p:cNvPr id="26" name="Google Shape;311;p39">
            <a:extLst>
              <a:ext uri="{FF2B5EF4-FFF2-40B4-BE49-F238E27FC236}">
                <a16:creationId xmlns:a16="http://schemas.microsoft.com/office/drawing/2014/main" id="{04986C74-BAF3-4B4E-BFEF-52BC40AB5AB5}"/>
              </a:ext>
            </a:extLst>
          </p:cNvPr>
          <p:cNvSpPr txBox="1">
            <a:spLocks/>
          </p:cNvSpPr>
          <p:nvPr/>
        </p:nvSpPr>
        <p:spPr>
          <a:xfrm>
            <a:off x="-5023885" y="953101"/>
            <a:ext cx="56424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7000" b="0" i="0" u="none" strike="noStrike" cap="none">
                <a:solidFill>
                  <a:schemeClr val="dk2"/>
                </a:solidFill>
                <a:highlight>
                  <a:schemeClr val="accent2"/>
                </a:highlight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Fjalla One"/>
              <a:buNone/>
              <a:defRPr sz="96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r>
              <a:rPr lang="en-ID"/>
              <a:t>Thank You</a:t>
            </a:r>
            <a:endParaRPr lang="en-ID" dirty="0"/>
          </a:p>
        </p:txBody>
      </p:sp>
      <p:sp>
        <p:nvSpPr>
          <p:cNvPr id="27" name="Google Shape;312;p39">
            <a:extLst>
              <a:ext uri="{FF2B5EF4-FFF2-40B4-BE49-F238E27FC236}">
                <a16:creationId xmlns:a16="http://schemas.microsoft.com/office/drawing/2014/main" id="{31B98E44-2EE5-4E52-A8B5-9734A2E104B0}"/>
              </a:ext>
            </a:extLst>
          </p:cNvPr>
          <p:cNvSpPr txBox="1">
            <a:spLocks/>
          </p:cNvSpPr>
          <p:nvPr/>
        </p:nvSpPr>
        <p:spPr>
          <a:xfrm>
            <a:off x="-5642400" y="2212045"/>
            <a:ext cx="5642400" cy="599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indent="0"/>
            <a:r>
              <a:rPr lang="en-US"/>
              <a:t>This is just the beginning, more projects to be released soon.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2703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1482775" y="994400"/>
            <a:ext cx="5642400" cy="12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312" name="Google Shape;312;p39"/>
          <p:cNvSpPr txBox="1">
            <a:spLocks noGrp="1"/>
          </p:cNvSpPr>
          <p:nvPr>
            <p:ph type="subTitle" idx="1"/>
          </p:nvPr>
        </p:nvSpPr>
        <p:spPr>
          <a:xfrm>
            <a:off x="1482775" y="2323199"/>
            <a:ext cx="5642400" cy="5995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just the beginning, more projects to be released soon.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E20E86-9F84-49BE-A994-92AE32DB5B86}"/>
              </a:ext>
            </a:extLst>
          </p:cNvPr>
          <p:cNvGrpSpPr/>
          <p:nvPr/>
        </p:nvGrpSpPr>
        <p:grpSpPr>
          <a:xfrm>
            <a:off x="2418674" y="2986200"/>
            <a:ext cx="1695781" cy="526264"/>
            <a:chOff x="7360810" y="25962"/>
            <a:chExt cx="1695781" cy="526264"/>
          </a:xfrm>
        </p:grpSpPr>
        <p:pic>
          <p:nvPicPr>
            <p:cNvPr id="5" name="Picture 4">
              <a:hlinkClick r:id="rId3"/>
              <a:extLst>
                <a:ext uri="{FF2B5EF4-FFF2-40B4-BE49-F238E27FC236}">
                  <a16:creationId xmlns:a16="http://schemas.microsoft.com/office/drawing/2014/main" id="{F5D4E4E0-0869-434F-8CFB-FF59E2230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54473" y1="29073" x2="48243" y2="29073"/>
                          <a14:foregroundMark x1="54473" y1="31150" x2="52396" y2="3115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30327" y="25962"/>
              <a:ext cx="526264" cy="526264"/>
            </a:xfrm>
            <a:prstGeom prst="rect">
              <a:avLst/>
            </a:prstGeom>
          </p:spPr>
        </p:pic>
        <p:sp>
          <p:nvSpPr>
            <p:cNvPr id="6" name="Google Shape;193;p29">
              <a:extLst>
                <a:ext uri="{FF2B5EF4-FFF2-40B4-BE49-F238E27FC236}">
                  <a16:creationId xmlns:a16="http://schemas.microsoft.com/office/drawing/2014/main" id="{B78FCE7D-AFA4-46F1-A217-FEA53DE6CE66}"/>
                </a:ext>
              </a:extLst>
            </p:cNvPr>
            <p:cNvSpPr txBox="1"/>
            <p:nvPr/>
          </p:nvSpPr>
          <p:spPr>
            <a:xfrm>
              <a:off x="7360810" y="70652"/>
              <a:ext cx="1320368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Visit my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Commissioner"/>
                  <a:ea typeface="Commissioner"/>
                  <a:cs typeface="Commissioner"/>
                  <a:sym typeface="Commissioner"/>
                </a:rPr>
                <a:t>LinkedIn Here </a:t>
              </a:r>
              <a:endParaRPr sz="800" dirty="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endParaRPr>
            </a:p>
          </p:txBody>
        </p:sp>
      </p:grpSp>
      <p:sp>
        <p:nvSpPr>
          <p:cNvPr id="7" name="Subtitle 4">
            <a:extLst>
              <a:ext uri="{FF2B5EF4-FFF2-40B4-BE49-F238E27FC236}">
                <a16:creationId xmlns:a16="http://schemas.microsoft.com/office/drawing/2014/main" id="{C6D6C8B5-5241-4B3A-ABCB-E8928C2AC752}"/>
              </a:ext>
            </a:extLst>
          </p:cNvPr>
          <p:cNvSpPr txBox="1">
            <a:spLocks/>
          </p:cNvSpPr>
          <p:nvPr/>
        </p:nvSpPr>
        <p:spPr>
          <a:xfrm>
            <a:off x="4148648" y="3081771"/>
            <a:ext cx="1813448" cy="3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mmissioner"/>
              <a:buNone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missioner"/>
              <a:buNone/>
              <a:defRPr sz="1800" b="0" i="0" u="none" strike="noStrike" cap="none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r>
              <a:rPr lang="en-US" sz="1000" dirty="0"/>
              <a:t>Muhammad Fajri Yusuf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minar Proposal Meeting by Slidesgo">
  <a:themeElements>
    <a:clrScheme name="Simple Light">
      <a:dk1>
        <a:srgbClr val="FFFFFF"/>
      </a:dk1>
      <a:lt1>
        <a:srgbClr val="585446"/>
      </a:lt1>
      <a:dk2>
        <a:srgbClr val="000000"/>
      </a:dk2>
      <a:lt2>
        <a:srgbClr val="3D3D39"/>
      </a:lt2>
      <a:accent1>
        <a:srgbClr val="797773"/>
      </a:accent1>
      <a:accent2>
        <a:srgbClr val="AEAA9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624</Words>
  <Application>Microsoft Office PowerPoint</Application>
  <PresentationFormat>On-screen Show (16:9)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Commissioner</vt:lpstr>
      <vt:lpstr>Arial</vt:lpstr>
      <vt:lpstr>Poppins</vt:lpstr>
      <vt:lpstr>Open Sans</vt:lpstr>
      <vt:lpstr>Fjalla One</vt:lpstr>
      <vt:lpstr>Seminar Proposal Meeting by Slidesgo</vt:lpstr>
      <vt:lpstr>Sales Performance Dashboard </vt:lpstr>
      <vt:lpstr>Objective of the Analysis</vt:lpstr>
      <vt:lpstr>Objective of the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creator>LENOVO</dc:creator>
  <cp:lastModifiedBy>Fajri</cp:lastModifiedBy>
  <cp:revision>20</cp:revision>
  <dcterms:modified xsi:type="dcterms:W3CDTF">2025-07-25T01:46:42Z</dcterms:modified>
</cp:coreProperties>
</file>